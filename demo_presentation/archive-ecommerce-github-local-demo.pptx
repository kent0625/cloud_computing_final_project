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4ae43f7b5f45cb" /><Relationship Type="http://schemas.openxmlformats.org/officeDocument/2006/relationships/extended-properties" Target="/docProps/app.xml" Id="R057986cd96224ad5" /><Relationship Type="http://schemas.openxmlformats.org/officeDocument/2006/relationships/officeDocument" Target="/ppt/presentation.xml" Id="R9f3a85dee36d4f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7f0fc12aa8473e"/>
  </p:sldMasterIdLst>
  <p:notesMasterIdLst>
    <p:notesMasterId xmlns:r="http://schemas.openxmlformats.org/officeDocument/2006/relationships" r:id="R2e29e1ce90e5422b"/>
  </p:notesMasterIdLst>
  <p:sldIdLst>
    <p:sldId xmlns:r="http://schemas.openxmlformats.org/officeDocument/2006/relationships" id="256" r:id="Rb4d0e791012840b3"/>
    <p:sldId xmlns:r="http://schemas.openxmlformats.org/officeDocument/2006/relationships" id="257" r:id="Ra90bdc60787f4de2"/>
    <p:sldId xmlns:r="http://schemas.openxmlformats.org/officeDocument/2006/relationships" id="258" r:id="R63dd0e71c8754429"/>
    <p:sldId xmlns:r="http://schemas.openxmlformats.org/officeDocument/2006/relationships" id="259" r:id="Rcac5b5672cea426a"/>
    <p:sldId xmlns:r="http://schemas.openxmlformats.org/officeDocument/2006/relationships" id="260" r:id="R3449049d0c134c14"/>
    <p:sldId xmlns:r="http://schemas.openxmlformats.org/officeDocument/2006/relationships" id="261" r:id="R4224ff2e5e4743e0"/>
    <p:sldId xmlns:r="http://schemas.openxmlformats.org/officeDocument/2006/relationships" id="262" r:id="R810b706ae2784a98"/>
    <p:sldId xmlns:r="http://schemas.openxmlformats.org/officeDocument/2006/relationships" id="263" r:id="R39b493a99d734e25"/>
    <p:sldId xmlns:r="http://schemas.openxmlformats.org/officeDocument/2006/relationships" id="264" r:id="R486a60a40d9c4619"/>
    <p:sldId xmlns:r="http://schemas.openxmlformats.org/officeDocument/2006/relationships" id="265" r:id="Rf6fcaf1509b04d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f0fc12aa8473e" /><Relationship Type="http://schemas.openxmlformats.org/officeDocument/2006/relationships/theme" Target="/ppt/theme/theme1.xml" Id="R43be3abd9d2f497d" /><Relationship Type="http://schemas.openxmlformats.org/officeDocument/2006/relationships/notesMaster" Target="/ppt/notesMasters/notesMaster1.xml" Id="R2e29e1ce90e5422b" /><Relationship Type="http://schemas.openxmlformats.org/officeDocument/2006/relationships/presProps" Target="/ppt/presProps.xml" Id="Rf46ef7b34e4a45bb" /><Relationship Type="http://schemas.openxmlformats.org/officeDocument/2006/relationships/viewProps" Target="/ppt/viewProps.xml" Id="R0e4de7fd608445eb" /><Relationship Type="http://schemas.openxmlformats.org/officeDocument/2006/relationships/tableStyles" Target="/ppt/tableStyles.xml" Id="Rd4d17d449d49420a" /><Relationship Type="http://schemas.openxmlformats.org/officeDocument/2006/relationships/slide" Target="/ppt/slides/slide1.xml" Id="Rb4d0e791012840b3" /><Relationship Type="http://schemas.openxmlformats.org/officeDocument/2006/relationships/slide" Target="/ppt/slides/slide2.xml" Id="Ra90bdc60787f4de2" /><Relationship Type="http://schemas.openxmlformats.org/officeDocument/2006/relationships/slide" Target="/ppt/slides/slide3.xml" Id="R63dd0e71c8754429" /><Relationship Type="http://schemas.openxmlformats.org/officeDocument/2006/relationships/slide" Target="/ppt/slides/slide4.xml" Id="Rcac5b5672cea426a" /><Relationship Type="http://schemas.openxmlformats.org/officeDocument/2006/relationships/slide" Target="/ppt/slides/slide5.xml" Id="R3449049d0c134c14" /><Relationship Type="http://schemas.openxmlformats.org/officeDocument/2006/relationships/slide" Target="/ppt/slides/slide6.xml" Id="R4224ff2e5e4743e0" /><Relationship Type="http://schemas.openxmlformats.org/officeDocument/2006/relationships/slide" Target="/ppt/slides/slide7.xml" Id="R810b706ae2784a98" /><Relationship Type="http://schemas.openxmlformats.org/officeDocument/2006/relationships/slide" Target="/ppt/slides/slide8.xml" Id="R39b493a99d734e25" /><Relationship Type="http://schemas.openxmlformats.org/officeDocument/2006/relationships/slide" Target="/ppt/slides/slide9.xml" Id="R486a60a40d9c4619" /><Relationship Type="http://schemas.openxmlformats.org/officeDocument/2006/relationships/slide" Target="/ppt/slides/slide10.xml" Id="Rf6fcaf1509b04d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6644e4def4b43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d259affdcb409c" /><Relationship Type="http://schemas.openxmlformats.org/officeDocument/2006/relationships/notesMaster" Target="/ppt/notesMasters/notesMaster1.xml" Id="R75f45b6b3c2947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c2c46b610422d" /><Relationship Type="http://schemas.openxmlformats.org/officeDocument/2006/relationships/notesMaster" Target="/ppt/notesMasters/notesMaster1.xml" Id="R0e2deba7690249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54940c81584ac2" /><Relationship Type="http://schemas.openxmlformats.org/officeDocument/2006/relationships/notesMaster" Target="/ppt/notesMasters/notesMaster1.xml" Id="R47407c511c4947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3e12b2f0cd4e38" /><Relationship Type="http://schemas.openxmlformats.org/officeDocument/2006/relationships/notesMaster" Target="/ppt/notesMasters/notesMaster1.xml" Id="R65317baeceb946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e05fd7390f4e3a" /><Relationship Type="http://schemas.openxmlformats.org/officeDocument/2006/relationships/notesMaster" Target="/ppt/notesMasters/notesMaster1.xml" Id="R8d54f5f2046f4e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5e8f9f988b402e" /><Relationship Type="http://schemas.openxmlformats.org/officeDocument/2006/relationships/notesMaster" Target="/ppt/notesMasters/notesMaster1.xml" Id="R30c29b90255a47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ffa17fb18d4555" /><Relationship Type="http://schemas.openxmlformats.org/officeDocument/2006/relationships/notesMaster" Target="/ppt/notesMasters/notesMaster1.xml" Id="Rd10df656081d45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2629f0f75f46a4" /><Relationship Type="http://schemas.openxmlformats.org/officeDocument/2006/relationships/notesMaster" Target="/ppt/notesMasters/notesMaster1.xml" Id="R1c20bb33702343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0c0e7d4c4d4ad9" /><Relationship Type="http://schemas.openxmlformats.org/officeDocument/2006/relationships/notesMaster" Target="/ppt/notesMasters/notesMaster1.xml" Id="Rd5e8b750814746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0002d3439c42e8" /><Relationship Type="http://schemas.openxmlformats.org/officeDocument/2006/relationships/notesMaster" Target="/ppt/notesMasters/notesMaster1.xml" Id="R355c5f7e4ad247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56f3890364c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5f701acd074e36" /><Relationship Type="http://schemas.openxmlformats.org/officeDocument/2006/relationships/slideLayout" Target="/ppt/slideLayouts/slideLayout2.xml" Id="R4a95613490274f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95613490274f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46071df52e43f4" /><Relationship Type="http://schemas.openxmlformats.org/officeDocument/2006/relationships/notesSlide" Target="/ppt/notesSlides/notesSlide1.xml" Id="Rd7078113d19841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9443384f044d9b" /><Relationship Type="http://schemas.openxmlformats.org/officeDocument/2006/relationships/notesSlide" Target="/ppt/notesSlides/notesSlide2.xml" Id="Rfb626dee0f2844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c152a2a0964008" /><Relationship Type="http://schemas.openxmlformats.org/officeDocument/2006/relationships/notesSlide" Target="/ppt/notesSlides/notesSlide3.xml" Id="R1c4126345eac46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da2cd8fdb443db" /><Relationship Type="http://schemas.openxmlformats.org/officeDocument/2006/relationships/notesSlide" Target="/ppt/notesSlides/notesSlide4.xml" Id="R0dc24050a95d4c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a075a4cfb04e32" /><Relationship Type="http://schemas.openxmlformats.org/officeDocument/2006/relationships/notesSlide" Target="/ppt/notesSlides/notesSlide5.xml" Id="R29791a69b4414b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e5301e980c453e" /><Relationship Type="http://schemas.openxmlformats.org/officeDocument/2006/relationships/notesSlide" Target="/ppt/notesSlides/notesSlide6.xml" Id="R407a77abe06945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c44587cdf9481f" /><Relationship Type="http://schemas.openxmlformats.org/officeDocument/2006/relationships/notesSlide" Target="/ppt/notesSlides/notesSlide7.xml" Id="R97ae9dad979248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ab3dbea9084368" /><Relationship Type="http://schemas.openxmlformats.org/officeDocument/2006/relationships/notesSlide" Target="/ppt/notesSlides/notesSlide8.xml" Id="R900322390b9b43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e5d86f51de4d3c" /><Relationship Type="http://schemas.openxmlformats.org/officeDocument/2006/relationships/notesSlide" Target="/ppt/notesSlides/notesSlide9.xml" Id="R887585c870294e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19095133424666" /><Relationship Type="http://schemas.openxmlformats.org/officeDocument/2006/relationships/notesSlide" Target="/ppt/notesSlides/notesSlide10.xml" Id="R78cb31cd66bb465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EC0CD-4027-40A7-8C99-42F208F0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735B7D-F841-4A39-95C0-AB7D9F48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3407619-25AC-4D46-948F-E4941C73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FINAL PROJECT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C3107A-9ECC-407F-886D-CB1DADFD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9650"/>
            <a:ext cx="7239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Archive Premium Thrift</a:t>
            </a:r>
          </a:p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GitHub-to-Local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FB152-D2B7-454C-9AC6-CAA064E6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7429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 live walkthrough that starts from the submitted GitHub repository, runs the local backend and frontend, completes checkout, runs ETL, and proves the reporting dashboard.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9D860-28B2-4047-B563-B6AE717F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76300"/>
            <a:ext cx="272415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9525">
            <a:solidFill>
              <a:srgbClr val="15151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21A5D8-B429-4180-AC05-3F7120DA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001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B0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8B06D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19178-34BB-4217-9C71-BC716DB7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A9445-5E41-4716-A564-E3609467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GitHub repo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B481A-C979-47B4-97D6-222D8C2D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088FF-19A9-4F89-B4D9-6AE25611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19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Local clone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BDD637-CD97-4850-A277-83FFE9F7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3CD53-DC8D-4CB0-9276-F6864388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193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FastAPI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AEE30-F578-4BFB-9459-EC50D188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76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F2879-6310-47A1-A15C-C6F2688D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19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Next.js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529C7B-4F85-45B8-9E24-7B195301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88609-8E8A-40F1-883C-35EE582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194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53035-3168-428A-9018-A2FEE5C6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343FF-4CE9-4884-BB52-2956F97D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195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ETL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E5391C-54C1-46DA-AFB9-DF1F6172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76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B06544-2765-493F-A9B1-46A8D536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01955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F0898-13CE-4B1A-9CEF-9A890C61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F5C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1552F1-E137-413F-BC9A-4C381656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B4B84-D3D6-453F-9338-F23B88F6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957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F5C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57B6E9-1E7F-42B6-8B53-E91D0C76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814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Next.js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46A8D0-0C54-4AD9-BD92-86F20134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95750"/>
            <a:ext cx="1485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F5C4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91B502-D6F4-4367-B26A-2CE995FB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81475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PostgreSQL 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803F0-3791-4F22-B416-6B7BA981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957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F5C4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39398-0BBC-47B7-B2ED-4ADC8C03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81475"/>
            <a:ext cx="838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Cron ETL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8925B2-01F2-4809-AF28-F7065E03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957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1F5C4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260184-A936-4FFC-B29E-0D46FEF0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81475"/>
            <a:ext cx="876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Analytics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7359D8-4325-41B3-BA24-59D78910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838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1616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161616"/>
                </a:solidFill>
                <a:latin typeface="Aptos Mono"/>
                <a:ea typeface="Aptos Mono"/>
                <a:cs typeface="Aptos Mono"/>
              </a:rPr>
              <a:t>Repo: github.com/Kent0625/CLOUD_COMPUTING_FINAL_PROJECT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28D5C8-667B-41D6-82F1-9036658E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AFC32-D22D-481B-9BC8-E6073407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9519D3-EDC6-4D50-956A-880AAA83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42763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FA1EC-F0E2-4C6F-BC12-4CD3BD3A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D16273E-047C-4B37-AC69-432EE3CA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B92119-ED5E-48C4-A714-3241C837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WHAT THE DEMO PROVES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EBD83-6E60-4FEE-B3A0-4177929B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14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Each requirement has a visible proof point in the walkthrough.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4B35D-4BEC-4F40-89FB-F4A99913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082040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EF69A-9F88-457C-BAFE-575AFDE7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Frontend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AF23C-330C-4877-A997-348BF1DC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526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Storefront, product pages, cart, checkout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83701-7275-4E19-9ADE-67D26B93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526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25949-AADD-4E61-AE44-706842DD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29937-E694-4E0F-952E-0B5D85AC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FastAPI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83F04-296C-4461-8348-855E3117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098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Products, reserve, checkout, analytics routes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CCE1C5-778B-4D82-B7E3-FC54BD92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8CF33-43B7-4B1A-ACBA-0A6BC741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527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A6FF32-56D5-4D05-9A18-00514A95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Main database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CC8E5-4E96-46DF-A8F7-1A73DD55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Users, products, orders in transactional DB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28BA9-4362-4E77-8FC9-1B5F5835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670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01FC3-104E-45DE-96AD-5F72D13B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46577-1F29-443A-94B5-16B442C5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Reporting 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E7D0F-D7B6-449E-8AED-E937F6C9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242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Dim/fact analytics tables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A46639-8EC9-4B93-A095-F33EE6FF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5242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03FF9E-8D23-4F4C-91C1-7FD50E92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5B6913-2706-488A-B3AC-E74C04BC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Cron ETL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2F49C-E74B-4691-A617-B8F85E26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9814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run_etl.sh executes etl.py on schedule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BCCA3-84FD-4474-9E4B-6F0A4257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814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B2DA8-75C3-4EC7-BB0C-40173BBC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CFED91-DB02-46D8-A9E9-A40FD24E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68D2D6-845E-4439-9E71-7B56A98F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386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Revenue, sales, top products, customer growth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9F6FCD-111C-4763-997A-52F1C31A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386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2A7EC9-116E-44F9-8A65-C92EE6E2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CA868D-F34B-4F20-8734-B406CE4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958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Deployment docs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020342-8310-4EDF-BEA2-C23A525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958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README includes VPS, Nginx, PM2, 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D0F9B2-B701-4D48-8FDC-9F8F4B71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958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144C82-756A-42C9-8AE2-58255944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02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Presenter line: "I will show the code source first, then run the same project locally and prove the data moves into analytics."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622AC4-1C23-4A78-9E6C-0F7DEC41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EE8864-30F4-4028-BE38-35D48432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7AA381-7BA8-45EC-A93D-995A2711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83303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7F30B9-2676-4479-B4B9-E3DB5EE1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FEAF962-E995-495B-B320-ABF9B9F8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E12129-5930-4935-9595-F21FAA6C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STEP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A6931-F569-4D3F-8F5B-D2DB7031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382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Start from the submitted GitHub repository, then clone locally.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79A52-FF8D-4804-9BA9-593FBEDF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A466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73714-1316-4B1B-B3F5-B3BD168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1FC74-9EE6-4CCB-99E4-149DBE5F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F90C3-8844-4413-942D-C5CE25E3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Kent0625/CLOUD_COMPUTING_FINAL_PROJECT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D849F-CAC0-4DE7-95FB-A6D8246E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733675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41AD92-A8BE-40E0-9D7E-A0CDF653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676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209EF-5590-4639-9547-7A77A1E9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2762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687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6BB4E-6E39-48B1-A5EF-5B3C8498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266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715DD-C94B-4F81-976A-4EE28B8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Local Folder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7A860-BBD6-4DF1-9B4B-6A4A1779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432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CLOUD_COMPUTING_FINAL_PROJECT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9F484-D280-4991-A31A-E137476C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FAB016-CBEF-4BD6-866F-8AE2E406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676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10E2C-ADF5-477A-93A6-A5F1E872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2038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1F5C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65C89-979F-45CB-A061-1EE5DB77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E25F5-6636-4CBD-9EEB-9BB538602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38400"/>
            <a:ext cx="1752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Run App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32812-347C-4F98-970A-CDC9F956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432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backend + frontend terminals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27E2E7-0126-4F36-8D95-B6518444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 w="9525">
            <a:solidFill>
              <a:srgbClr val="2F2F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D77B6-5095-42BC-B200-F4AFFA1B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48100"/>
            <a:ext cx="6324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76D"/>
                </a:solidFill>
                <a:latin typeface="Aptos"/>
                <a:ea typeface="Aptos"/>
                <a:cs typeface="Aptos"/>
              </a:rPr>
              <a:t>Clone command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71A0F-512D-45CC-A903-F3D734A6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63246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git clone https://github.com/Kent0625/CLOUD_COMPUTING_FINAL_PROJECT.git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cd CLOUD_COMPUTING_FINAL_PROJECT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git log -1 --oneline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A4595A-20E5-4A9D-8FF2-A0BA8927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9095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Point to say: The repo itself is the submission. The local demo should be run from a fresh clone so the instructor can see it is reproducible.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E3584-6103-4948-9E5B-D73150E5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B9A929-8917-4C75-AB6D-74AA87AB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8270B2-0BCA-459B-9F8A-F0B68779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142916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77B8DB-452A-46E5-8986-03284770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7C83BB-32E5-4A65-9FA9-830B6C2E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EA79D4-9AAF-4666-8055-8F61B1BD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STEP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50582-B095-47E0-A673-3F9B01C5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66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Run two terminals: one for FastAPI, one for Next.js.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12243-476B-4E67-9938-590BD0F3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953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 w="9525">
            <a:solidFill>
              <a:srgbClr val="2F2F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FF65BC-DAE1-4802-A46F-1F7527AA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61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76D"/>
                </a:solidFill>
                <a:latin typeface="Aptos"/>
                <a:ea typeface="Aptos"/>
                <a:cs typeface="Aptos"/>
              </a:rPr>
              <a:t>Terminal A: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3A9C6-56B8-4483-8FE5-1DB626D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610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cd backend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python -m venv venv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venv\Scripts\activate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pip install -r requirements.txt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python seed.py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uvicorn main:app --reload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CC706-0F74-4DEE-9A1A-F795FB77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14550"/>
            <a:ext cx="49530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 w="9525">
            <a:solidFill>
              <a:srgbClr val="2F2F2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85C37-E1B6-4E4A-95AD-6064DA53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610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76D"/>
                </a:solidFill>
                <a:latin typeface="Aptos"/>
                <a:ea typeface="Aptos"/>
                <a:cs typeface="Aptos"/>
              </a:rPr>
              <a:t>Terminal B: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D5CDF-FF6B-4F11-99DF-AE05E6E5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6101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cd frontend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npm install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npm run dev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Open: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http://127.0.0.1:3000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3FD77-56CA-4F09-8919-AFC78AAF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706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1C9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AB487-C2FF-4FA1-85BA-9145A035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7685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Fallback check: if the page does not open, test the API first at http://127.0.0.1:8000/products, then refresh the frontend.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BD937-4C1C-4613-8B86-73C0FE98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430E8-B808-4AB7-BD87-BF907AB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E9776-7F50-4DAC-85E5-90D134B2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871308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A31C55-95A3-420E-BD01-6ECCD70E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98CA72B-D6FE-4807-B4A4-5E33791F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9B38A1B-C734-47E7-A2D5-D1AB73E8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BACKEND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F9037-1019-4CD7-9CF8-490E44D9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FastAPI is the server layer behind products, checkout, and analytics.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C0722-B78C-44D9-BD82-C4B13FB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010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3EB9A-F9B3-4593-9271-B7F8C760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API routes to show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7E60AB-1E84-40AB-915E-7B0A5AD1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rPr>
              <a:t>GET /products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C8407-E284-478C-831C-23B129DA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returns catalog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FF3BC-5DEA-46D4-88C7-72131161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rPr>
              <a:t>POST /products/{id}/reserve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811D6-E92F-4CB4-A081-1CFE8B0B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locks one thrift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917DD-6B16-4E67-BDDE-119AD50A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rPr>
              <a:t>POST /products/{id}/checkout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A56CD-E6B7-4FD1-8906-EECFA148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814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creates paid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94CFDA-0CC2-4166-97EC-B72C179F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rPr>
              <a:t>GET /analytics/summary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7197C7-C0CD-4ED6-9E9E-D6B06E6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reads reporting totals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600E4-3C73-4948-9EC0-FC65F097E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F5C46"/>
                </a:solidFill>
                <a:latin typeface="Aptos Mono"/>
                <a:ea typeface="Aptos Mono"/>
                <a:cs typeface="Aptos Mono"/>
              </a:rPr>
              <a:t>GET /analytics/customers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F0C8E0-6301-4593-B394-FD062170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196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reads customer growth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ABE764-504D-479E-80BF-EA20C3B7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5339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9525">
            <a:solidFill>
              <a:srgbClr val="15151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83AE4-CC82-46EB-BC75-0AA1FC60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43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Database behavior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B4F6F-AD72-462D-9E9E-D3CB043C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027DA-EC9C-4596-8DEB-9BAAA0AE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14650"/>
            <a:ext cx="3486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Seed script loads 16 catalog items.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2AF4D1-5049-49B5-B153-3BF4413B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67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342A6A-544F-4A98-AB51-7E35A367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9950"/>
            <a:ext cx="3486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Reservation prevents two buyers from claiming the same item.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9B6C79-6FD3-4AD3-9125-0E3D19D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962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C5CC05-A720-4EAF-903A-16334EA1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05250"/>
            <a:ext cx="3486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Checkout stores order and customer identity for reporting.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A96234-170A-4EF0-9275-24FF56CA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57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7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275B5-D738-49A7-8338-817E3D95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3486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Production config supports PostgreSQL URLs.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893B13-EFBC-4035-B93D-1A0EBC96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61FC4-DE09-4C5D-A793-41406CBD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28D99B-2166-49BA-A3F1-CE586DF1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777119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A5DA27-412F-4297-A3EC-7AF6A876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EEB6F7-8807-484A-B6C1-73B224C3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7EC27C4-EF1A-4C6D-9A0A-2E1C41B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FRONTEND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231D5-A5CA-4E60-A7D8-C9339DCC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The Next.js storefront is the live user-facing ecommerce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F0681-4AA0-4DBE-B47B-8E769D30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BB12A-E433-4457-8B1C-38669DEC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43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Storefront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FEE29-7028-4447-B621-6A816C0B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4663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A46637"/>
                </a:solidFill>
                <a:latin typeface="Aptos Mono"/>
                <a:ea typeface="Aptos Mono"/>
                <a:cs typeface="Aptos Mono"/>
              </a:rPr>
              <a:t>http://127.0.0.1:3000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9BEB6-051B-4A64-B72E-A1BF0A54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Browse premium thrift products and item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D926C-B078-44F3-8E8E-230C77DD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526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C4BA4-AB44-41F9-89CC-67BF7BE2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Product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E20EF-1A90-4D2C-B8F7-ACCD16C4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4663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A46637"/>
                </a:solidFill>
                <a:latin typeface="Aptos Mono"/>
                <a:ea typeface="Aptos Mono"/>
                <a:cs typeface="Aptos Mono"/>
              </a:rPr>
              <a:t>/products/15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A4A680-EA27-4A3F-8088-553845EA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337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View gallery, price, fit, fabric, condition.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4741E-3316-434D-A210-79F2180E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1F220-BA6B-4B8C-8499-E4AA2690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5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Cart drawer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9938A-150D-44A4-B56B-BE161BCE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4663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A46637"/>
                </a:solidFill>
                <a:latin typeface="Aptos Mono"/>
                <a:ea typeface="Aptos Mono"/>
                <a:cs typeface="Aptos Mono"/>
              </a:rPr>
              <a:t>Open Cart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ACE36-D800-4CE4-AE9A-B2EEB2A2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958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Collect delivery details and payment method.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00BEF-011D-4FF8-AAAB-07605F78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762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1F5C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2D2BE1-F6BE-4D3A-BB40-9A786CAD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BF0E1F-AE71-4459-B9E6-D81FBB2D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4663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A46637"/>
                </a:solidFill>
                <a:latin typeface="Aptos Mono"/>
                <a:ea typeface="Aptos Mono"/>
                <a:cs typeface="Aptos Mono"/>
              </a:rPr>
              <a:t>/dashboard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D1BF81-D3A1-49CC-8635-3D726D4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Display reporting analytics after ETL.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4E98F-5F59-4D2C-BBA8-90A78702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Presenter line: "The UI is not hardcoded; it fetches products and analytics from the backend through the API proxy."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7EA0E5-9804-423C-B529-46F04271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3F9DA5-10D1-4DC9-8A3B-6D35025B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6D2AF-4C2E-473B-B78F-41D4E403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33684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D00136-1772-488D-8754-6434FB55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EBDDD0F-3A4C-40E7-A2F8-434D0C73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742E688-5B9B-491B-8547-E2AB9956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SHOPPER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80C32D-CEC4-40AE-89AA-3D0ED217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953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A checkout creates the transaction data used later by reporting.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4C60C-C535-4FC3-B290-84AE0373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047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687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47D793-6EE4-4397-B711-9CA610692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17FE07-FCE3-4175-98A7-998FE00F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1762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Browse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CF1A2-9F67-4035-8B32-E52833E9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Select an available thrift 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FECE0-E1BF-46C9-82E1-576DB39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146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84B86-39A4-4DAF-B746-1E8A4966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1D42E-0357-4B01-81F8-C18E3E4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47900"/>
            <a:ext cx="2047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A4663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A73C0-F1E0-4C13-8235-F2C840C1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2479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645DFF-0EDF-4F48-8E93-7A3C3B73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19350"/>
            <a:ext cx="1762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Reserve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D8CB3-1F2C-4A5C-A1FD-79D471C5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241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10-minute item 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43B3CB-6139-4C2B-B57E-3964FC3E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146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18B34-3C0D-416B-80EB-9EDB7CAB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EA863-BE4A-4EE2-B228-03A7103C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2047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1F5C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F49068-D753-4867-A633-D7AE965E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0DE25-C2B8-40CA-874E-C86A6B80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19350"/>
            <a:ext cx="17621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4C740-1FFB-4C0B-B4B9-49AC61F5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7241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Delivery + payment details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65DF48-C299-4725-9E75-1D904B0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14625"/>
            <a:ext cx="895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6E54AF-3275-4AB4-B82C-4540147F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26574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D9EDC5-C4A3-454C-AA10-A34366C3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47900"/>
            <a:ext cx="1238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1F5C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1B6BE4-F587-45B2-A9D1-27B07FB5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24790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40CC64-3B8F-4340-9302-72107B45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419350"/>
            <a:ext cx="95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Order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C2BB8-ABF5-4863-BDBD-67C2E4AE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7241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Paid row in main DB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C4BA9-7163-43AB-BB7A-2D67B43D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962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9525">
            <a:solidFill>
              <a:srgbClr val="15151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CDAD12-B630-4738-9437-184FDD91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48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Show this live: open a product -&gt; Add to Cart -&gt; fill checkout fields -&gt; choose Cash on Delivery -&gt; Place Order.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18504-659A-4D3C-A27B-409C421D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910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8CD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8CDBE"/>
                </a:solidFill>
                <a:latin typeface="Aptos"/>
                <a:ea typeface="Aptos"/>
                <a:cs typeface="Aptos"/>
              </a:rPr>
              <a:t>Why it matters: the demo is not only visual. It writes transactional order data that ETL can later transform into analytics.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F29414-E9D1-4818-8062-3AECDD83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954BEC-3DD0-4ACB-9E79-E3301E57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FFD7C2-98D8-4455-9950-9C3A839C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78066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BEA9C5-E7F9-466C-B12A-D99E91E9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2D1B2C1-08AA-49E8-85A1-8997E6E0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3F0818-68E2-4BF6-85C2-3F44266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REPORTING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6C86E-ED6B-443A-AB1E-71A31227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ETL separates analytics from the transactional database.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84848-ADA0-48F5-963E-A6FA2D21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A4663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AB693-0648-4A64-B725-ADB77287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6A5E5-0DA0-4DA7-9F54-309A7112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Main DB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4DA14-EC54-471D-8998-B101A40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products, users, orders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0ACE6-B07E-4881-BAF2-F038AC0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9875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A71CDA-A735-4622-BBD1-3569A75F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52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36475A-1FCC-4F47-9B83-CBC84B8D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687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02E0C-E569-47E8-8967-EE81A7F8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19C0B-572C-4DD8-8B0B-98EBD0C2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ETL script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DC858-B767-4109-8E5B-8E5CDC6D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1940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extract, transform, load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E8B5E-B516-45D6-9918-B5AFCCBF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09875"/>
            <a:ext cx="1314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4C7A0-BDC8-4634-BE71-B023D517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7527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87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80CD4-3789-4DE9-BBDB-D584549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571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14288">
            <a:solidFill>
              <a:srgbClr val="1F5C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B1973-6443-47D2-9ED9-D1FF3360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57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01F38B-E9A7-4BA3-BD82-CA791B23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Reporting DB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F2768-CED9-4492-8E16-33383A24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facts, dimensions, summaries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DE92D-13CD-46B1-BB57-1C3C18B5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7429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 w="9525">
            <a:solidFill>
              <a:srgbClr val="2F2F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22DA1-6B0B-4062-A2C3-822596EC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33850"/>
            <a:ext cx="7086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76D"/>
                </a:solidFill>
                <a:latin typeface="Aptos"/>
                <a:ea typeface="Aptos"/>
                <a:cs typeface="Aptos"/>
              </a:rPr>
              <a:t>Manual ETL + cron schedule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9A45E-072E-405E-9867-79B970CBB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70866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cd backend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python etl.py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# VPS cron example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0 0 * * * /path/to/backend/run_etl.sh &gt;&gt; etl.log 2&gt;&amp;1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F422CC-510A-40BA-B38F-96CF9537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386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Presenter line: "In production, this script runs by Linux cron. For the live demo, I run it manually so you can immediately see the dashboard update."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03744-6EF4-429E-A90D-E4CF48A8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054B3B-3ADE-41FA-9175-A8892621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BEFAC0-3597-4468-AC15-50123BAF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7826323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D2D000-233E-41DB-B035-F34FF065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E10EB02-E89B-413B-BB4B-71C55E71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CD550C2-C7BA-4DFD-85FE-29E82F4D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DASHBOARD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E425D-2B9D-4C7E-96B6-79CA3C28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04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The dashboard reads reporting tables and turns orders into analytics.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7C5AE-64A8-48D1-9FBE-CBF902CD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343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2"/>
          </a:solidFill>
          <a:ln xmlns:a="http://schemas.openxmlformats.org/drawingml/2006/main" w="9525">
            <a:solidFill>
              <a:srgbClr val="15151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6E300-5C9E-4142-A578-D1D3414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Total 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D307E-5D5C-4813-BB08-8019FE36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8C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8CDBE"/>
                </a:solidFill>
                <a:latin typeface="Aptos"/>
                <a:ea typeface="Aptos"/>
                <a:cs typeface="Aptos"/>
              </a:rPr>
              <a:t>sales value from paid orders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049AA-19A3-4669-A594-8CD35036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343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8715A-D3B9-41B2-BD04-CEDDF368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574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Total 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C5D6A-E3CE-4E53-896C-EF8E7811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00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count of completed checkouts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ADEB4-6E9D-48AA-B47E-2592988B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90750"/>
            <a:ext cx="2343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520529-09CE-40B3-83C7-DE0B0D6C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Top Products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7A49A-B4ED-4FC0-BC48-B307D78E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ranked by sold count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DC60F-13FF-4AFA-A792-56A3C8E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0"/>
            <a:ext cx="2343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540A5-21B3-4B17-ADF9-5B58FCA2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Customer Growth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D6E4A6-8742-4BA5-A473-2EC2EE2E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035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new checkout customers by 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E2C40-DB02-4CED-9491-0E252A52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38600"/>
            <a:ext cx="990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 w="9525">
            <a:solidFill>
              <a:srgbClr val="E1C99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CA6D5B-F098-4031-BEE6-F6FF2212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Live route to open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B67477-6C3F-47BF-A520-96378BC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910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6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161616"/>
                </a:solidFill>
                <a:latin typeface="Aptos Mono"/>
                <a:ea typeface="Aptos Mono"/>
                <a:cs typeface="Aptos Mono"/>
              </a:rPr>
              <a:t>http://127.0.0.1:3000/dashboard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01AE9-DD9F-4D15-AE7E-D68E756C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3243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Say: "If the dashboard is empty, it means ETL has not run yet. Run backend/etl.py, then refresh."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B09A0-CAB6-49E6-BBA4-9257B6D0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E0FD21-83F9-4233-A58B-4CC2EA5F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C2E1DC-2041-41CA-B84A-2732DF90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84934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356D88-BE73-4BEE-97FA-5A38AFF4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06645C8-18F8-4EA7-BF5B-4A21D541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706C1D4-708C-4C91-B5EA-15068876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340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4663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46637"/>
                </a:solidFill>
                <a:latin typeface="Aptos"/>
                <a:ea typeface="Aptos"/>
                <a:cs typeface="Aptos"/>
              </a:rPr>
              <a:t>LIVE RUNBOOK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465AC-1A65-4A02-BA95-EA2531B2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858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Close with a short checklist: source, services, transaction, reporting.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94124-1EDE-48F4-947A-3745C893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476250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CCB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FBD2C-CCEB-4674-B8E9-ADA7DE4C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098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8B479-F898-4620-8B2D-427EC179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Show GitHub repo and latest commit.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FE027-307A-4A74-8C0C-35D807DF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98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B1736-3112-4FBE-91E7-D309F4C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Clone/open local folder.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20F6A1-9FB1-40DA-B084-653BEBA7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2973B-1CF0-4758-94B7-1ED0A2F5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Run backend on port 8000.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58B54-3B31-4E55-8840-060566BF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99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C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CBF9A-9069-4D23-BE9D-79BB18918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Run frontend on port 3000.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5B88F-3962-4D75-97B3-1DA67E39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9E3CF-57B2-4453-A99C-0A073139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433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Browse a product and complete checkout.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FFE9CA-C9B7-4D12-95B9-FDD32B4C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09813-8528-492F-A6CB-B6F973E5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Run ETL manually for demo speed.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BB5D7B-8019-4675-B839-10B389B1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63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23FA7-D1A1-4387-B22E-7DF7C72D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Open dashboard and explain each metric.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08C8E3-03A1-4BA5-A6DC-732DC340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857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5"/>
          </a:solidFill>
          <a:ln xmlns:a="http://schemas.openxmlformats.org/drawingml/2006/main" w="9525">
            <a:solidFill>
              <a:srgbClr val="2F2F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AA7C3-8DAD-4589-A262-B3FB92A5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717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5A7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5A76D"/>
                </a:solidFill>
                <a:latin typeface="Aptos"/>
                <a:ea typeface="Aptos"/>
                <a:cs typeface="Aptos"/>
              </a:rPr>
              <a:t>Presenter safety checks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51C914-9273-4DD9-96ED-484216E1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95550"/>
            <a:ext cx="45148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Backend:  http://127.0.0.1:8000/products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Frontend: http://127.0.0.1:3000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Dashboard: http://127.0.0.1:3000/dashboard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Verify: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python -m unittest discover -s tests</a:t>
            </a:r>
          </a:p>
          <a:p xmlns:a="http://schemas.openxmlformats.org/drawingml/2006/main">
            <a:pPr algn="l">
              <a:def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FFF8EC"/>
                </a:solidFill>
                <a:latin typeface="Aptos Mono"/>
                <a:ea typeface="Aptos Mono"/>
                <a:cs typeface="Aptos Mono"/>
              </a:rPr>
              <a:t>npm run lint &amp;&amp; npm run build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45311C-EF21-458B-BD19-FA68F833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C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C46"/>
                </a:solidFill>
                <a:latin typeface="Aptos"/>
                <a:ea typeface="Aptos"/>
                <a:cs typeface="Aptos"/>
              </a:rPr>
              <a:t>Final line: "This satisfies the full-stack ecommerce requirement and demonstrates the reporting pipeline from live transaction data."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FF099C-5EA5-4578-8E99-CA06FBC0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8CDC9-EFA3-4CA1-8D22-0DF2099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33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A6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6A60"/>
                </a:solidFill>
                <a:latin typeface="Aptos"/>
                <a:ea typeface="Aptos"/>
                <a:cs typeface="Aptos"/>
              </a:rPr>
              <a:t>Archive Premium Thrift | GitHub to Local Demo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7D369-F9FC-43D8-A72F-7075A76E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F6A60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94658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2026-05-28T02:58:29.9470000Z</dcterms:created>
  <dcterms:modified xsi:type="dcterms:W3CDTF">2026-05-28T02:58:29.9470000Z</dcterms:modified>
</coreProperties>
</file>